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1" r:id="rId3"/>
    <p:sldId id="271" r:id="rId4"/>
    <p:sldId id="257" r:id="rId5"/>
    <p:sldId id="258" r:id="rId6"/>
    <p:sldId id="262" r:id="rId7"/>
    <p:sldId id="263" r:id="rId8"/>
    <p:sldId id="264" r:id="rId9"/>
    <p:sldId id="259" r:id="rId10"/>
    <p:sldId id="265" r:id="rId11"/>
    <p:sldId id="266" r:id="rId12"/>
    <p:sldId id="267" r:id="rId13"/>
    <p:sldId id="260" r:id="rId14"/>
    <p:sldId id="268" r:id="rId15"/>
    <p:sldId id="269"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KE"/>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3963231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42216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090964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16E4F66-D47E-4BF3-B5B9-7D3BB175239D}" type="datetimeFigureOut">
              <a:rPr lang="en-KE" smtClean="0"/>
              <a:t>23/11/2025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3302745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16E4F66-D47E-4BF3-B5B9-7D3BB175239D}" type="datetimeFigureOut">
              <a:rPr lang="en-KE" smtClean="0"/>
              <a:t>23/11/2025</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306358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16E4F66-D47E-4BF3-B5B9-7D3BB175239D}" type="datetimeFigureOut">
              <a:rPr lang="en-KE" smtClean="0"/>
              <a:t>23/11/2025</a:t>
            </a:fld>
            <a:endParaRPr lang="en-KE"/>
          </a:p>
        </p:txBody>
      </p:sp>
      <p:sp>
        <p:nvSpPr>
          <p:cNvPr id="4" name="Footer Placeholder 3"/>
          <p:cNvSpPr>
            <a:spLocks noGrp="1"/>
          </p:cNvSpPr>
          <p:nvPr>
            <p:ph type="ftr" sz="quarter" idx="11"/>
          </p:nvPr>
        </p:nvSpPr>
        <p:spPr/>
        <p:txBody>
          <a:bodyPr/>
          <a:lstStyle/>
          <a:p>
            <a:endParaRPr lang="en-KE"/>
          </a:p>
        </p:txBody>
      </p:sp>
      <p:sp>
        <p:nvSpPr>
          <p:cNvPr id="5" name="Slide Number Placeholder 4"/>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227644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6E4F66-D47E-4BF3-B5B9-7D3BB175239D}" type="datetimeFigureOut">
              <a:rPr lang="en-KE" smtClean="0"/>
              <a:t>23/11/2025</a:t>
            </a:fld>
            <a:endParaRPr lang="en-KE"/>
          </a:p>
        </p:txBody>
      </p:sp>
      <p:sp>
        <p:nvSpPr>
          <p:cNvPr id="3" name="Footer Placeholder 2"/>
          <p:cNvSpPr>
            <a:spLocks noGrp="1"/>
          </p:cNvSpPr>
          <p:nvPr>
            <p:ph type="ftr" sz="quarter" idx="11"/>
          </p:nvPr>
        </p:nvSpPr>
        <p:spPr/>
        <p:txBody>
          <a:bodyPr/>
          <a:lstStyle/>
          <a:p>
            <a:endParaRPr lang="en-KE"/>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731644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16E4F66-D47E-4BF3-B5B9-7D3BB175239D}" type="datetimeFigureOut">
              <a:rPr lang="en-KE" smtClean="0"/>
              <a:t>23/11/2025</a:t>
            </a:fld>
            <a:endParaRPr lang="en-KE"/>
          </a:p>
        </p:txBody>
      </p:sp>
      <p:sp>
        <p:nvSpPr>
          <p:cNvPr id="6" name="Footer Placeholder 5"/>
          <p:cNvSpPr>
            <a:spLocks noGrp="1"/>
          </p:cNvSpPr>
          <p:nvPr>
            <p:ph type="ftr" sz="quarter" idx="11"/>
          </p:nvPr>
        </p:nvSpPr>
        <p:spPr/>
        <p:txBody>
          <a:bodyPr/>
          <a:lstStyle/>
          <a:p>
            <a:endParaRPr lang="en-KE"/>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3655495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16E4F66-D47E-4BF3-B5B9-7D3BB175239D}" type="datetimeFigureOut">
              <a:rPr lang="en-KE" smtClean="0"/>
              <a:t>23/11/2025</a:t>
            </a:fld>
            <a:endParaRPr lang="en-KE"/>
          </a:p>
        </p:txBody>
      </p:sp>
      <p:sp>
        <p:nvSpPr>
          <p:cNvPr id="6" name="Footer Placeholder 5"/>
          <p:cNvSpPr>
            <a:spLocks noGrp="1"/>
          </p:cNvSpPr>
          <p:nvPr>
            <p:ph type="ftr" sz="quarter" idx="11"/>
          </p:nvPr>
        </p:nvSpPr>
        <p:spPr/>
        <p:txBody>
          <a:bodyPr/>
          <a:lstStyle/>
          <a:p>
            <a:endParaRPr lang="en-KE"/>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2332088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16E4F66-D47E-4BF3-B5B9-7D3BB175239D}" type="datetimeFigureOut">
              <a:rPr lang="en-KE" smtClean="0"/>
              <a:t>23/11/2025</a:t>
            </a:fld>
            <a:endParaRPr lang="en-KE"/>
          </a:p>
        </p:txBody>
      </p:sp>
      <p:sp>
        <p:nvSpPr>
          <p:cNvPr id="6" name="Footer Placeholder 5"/>
          <p:cNvSpPr>
            <a:spLocks noGrp="1"/>
          </p:cNvSpPr>
          <p:nvPr>
            <p:ph type="ftr" sz="quarter" idx="11"/>
          </p:nvPr>
        </p:nvSpPr>
        <p:spPr/>
        <p:txBody>
          <a:bodyPr/>
          <a:lstStyle/>
          <a:p>
            <a:endParaRPr lang="en-KE"/>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019658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2747567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781025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447485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16E4F66-D47E-4BF3-B5B9-7D3BB175239D}" type="datetimeFigureOut">
              <a:rPr lang="en-KE" smtClean="0"/>
              <a:t>23/11/2025</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2231573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16E4F66-D47E-4BF3-B5B9-7D3BB175239D}" type="datetimeFigureOut">
              <a:rPr lang="en-KE" smtClean="0"/>
              <a:t>23/11/2025</a:t>
            </a:fld>
            <a:endParaRPr lang="en-KE"/>
          </a:p>
        </p:txBody>
      </p:sp>
      <p:sp>
        <p:nvSpPr>
          <p:cNvPr id="8" name="Footer Placeholder 7"/>
          <p:cNvSpPr>
            <a:spLocks noGrp="1"/>
          </p:cNvSpPr>
          <p:nvPr>
            <p:ph type="ftr" sz="quarter" idx="11"/>
          </p:nvPr>
        </p:nvSpPr>
        <p:spPr>
          <a:xfrm>
            <a:off x="561111" y="6391838"/>
            <a:ext cx="3644282" cy="304801"/>
          </a:xfrm>
        </p:spPr>
        <p:txBody>
          <a:bodyPr/>
          <a:lstStyle/>
          <a:p>
            <a:endParaRPr lang="en-KE"/>
          </a:p>
        </p:txBody>
      </p:sp>
      <p:sp>
        <p:nvSpPr>
          <p:cNvPr id="9" name="Slide Number Placeholder 8"/>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1583770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38900024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16E4F66-D47E-4BF3-B5B9-7D3BB175239D}" type="datetimeFigureOut">
              <a:rPr lang="en-KE" smtClean="0"/>
              <a:t>23/11/2025</a:t>
            </a:fld>
            <a:endParaRPr lang="en-KE"/>
          </a:p>
        </p:txBody>
      </p:sp>
      <p:sp>
        <p:nvSpPr>
          <p:cNvPr id="5" name="Footer Placeholder 4"/>
          <p:cNvSpPr>
            <a:spLocks noGrp="1"/>
          </p:cNvSpPr>
          <p:nvPr>
            <p:ph type="ftr" sz="quarter" idx="11"/>
          </p:nvPr>
        </p:nvSpPr>
        <p:spPr/>
        <p:txBody>
          <a:bodyPr/>
          <a:lstStyle/>
          <a:p>
            <a:endParaRPr lang="en-KE"/>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0C241FC-CEB0-47C3-B78F-AF88D6D9C147}" type="slidenum">
              <a:rPr lang="en-KE" smtClean="0"/>
              <a:t>‹#›</a:t>
            </a:fld>
            <a:endParaRPr lang="en-KE"/>
          </a:p>
        </p:txBody>
      </p:sp>
    </p:spTree>
    <p:extLst>
      <p:ext uri="{BB962C8B-B14F-4D97-AF65-F5344CB8AC3E}">
        <p14:creationId xmlns:p14="http://schemas.microsoft.com/office/powerpoint/2010/main" val="326707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16E4F66-D47E-4BF3-B5B9-7D3BB175239D}" type="datetimeFigureOut">
              <a:rPr lang="en-KE" smtClean="0"/>
              <a:t>23/11/2025</a:t>
            </a:fld>
            <a:endParaRPr lang="en-KE"/>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KE"/>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80C241FC-CEB0-47C3-B78F-AF88D6D9C147}" type="slidenum">
              <a:rPr lang="en-KE" smtClean="0"/>
              <a:t>‹#›</a:t>
            </a:fld>
            <a:endParaRPr lang="en-KE"/>
          </a:p>
        </p:txBody>
      </p:sp>
    </p:spTree>
    <p:extLst>
      <p:ext uri="{BB962C8B-B14F-4D97-AF65-F5344CB8AC3E}">
        <p14:creationId xmlns:p14="http://schemas.microsoft.com/office/powerpoint/2010/main" val="238212891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EB9F-7372-56C0-2CAB-150F4A9EF08D}"/>
              </a:ext>
            </a:extLst>
          </p:cNvPr>
          <p:cNvSpPr>
            <a:spLocks noGrp="1"/>
          </p:cNvSpPr>
          <p:nvPr>
            <p:ph type="ctrTitle"/>
          </p:nvPr>
        </p:nvSpPr>
        <p:spPr/>
        <p:txBody>
          <a:bodyPr/>
          <a:lstStyle/>
          <a:p>
            <a:r>
              <a:rPr lang="en-US" dirty="0"/>
              <a:t>Amazon Electronics Sales Analysis</a:t>
            </a:r>
            <a:endParaRPr lang="en-KE" dirty="0"/>
          </a:p>
        </p:txBody>
      </p:sp>
      <p:sp>
        <p:nvSpPr>
          <p:cNvPr id="3" name="Subtitle 2">
            <a:extLst>
              <a:ext uri="{FF2B5EF4-FFF2-40B4-BE49-F238E27FC236}">
                <a16:creationId xmlns:a16="http://schemas.microsoft.com/office/drawing/2014/main" id="{AAF99987-48D9-FE71-3640-79D45CE3AEE8}"/>
              </a:ext>
            </a:extLst>
          </p:cNvPr>
          <p:cNvSpPr>
            <a:spLocks noGrp="1"/>
          </p:cNvSpPr>
          <p:nvPr>
            <p:ph type="subTitle" idx="1"/>
          </p:nvPr>
        </p:nvSpPr>
        <p:spPr/>
        <p:txBody>
          <a:bodyPr/>
          <a:lstStyle/>
          <a:p>
            <a:pPr algn="r"/>
            <a:r>
              <a:rPr lang="en-US" dirty="0"/>
              <a:t>A Business Intelligence Project</a:t>
            </a:r>
            <a:endParaRPr lang="en-KE" dirty="0"/>
          </a:p>
        </p:txBody>
      </p:sp>
    </p:spTree>
    <p:extLst>
      <p:ext uri="{BB962C8B-B14F-4D97-AF65-F5344CB8AC3E}">
        <p14:creationId xmlns:p14="http://schemas.microsoft.com/office/powerpoint/2010/main" val="2168616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D10E9-16C1-2174-35D8-055D29BCEC8B}"/>
              </a:ext>
            </a:extLst>
          </p:cNvPr>
          <p:cNvSpPr>
            <a:spLocks noGrp="1"/>
          </p:cNvSpPr>
          <p:nvPr>
            <p:ph type="title"/>
          </p:nvPr>
        </p:nvSpPr>
        <p:spPr>
          <a:xfrm>
            <a:off x="1154955" y="2370667"/>
            <a:ext cx="9955498" cy="1822514"/>
          </a:xfrm>
        </p:spPr>
        <p:txBody>
          <a:bodyPr/>
          <a:lstStyle/>
          <a:p>
            <a:pPr algn="r"/>
            <a:r>
              <a:rPr lang="en-US" dirty="0"/>
              <a:t>Business Problem Definition</a:t>
            </a:r>
            <a:endParaRPr lang="en-KE" dirty="0"/>
          </a:p>
        </p:txBody>
      </p:sp>
    </p:spTree>
    <p:extLst>
      <p:ext uri="{BB962C8B-B14F-4D97-AF65-F5344CB8AC3E}">
        <p14:creationId xmlns:p14="http://schemas.microsoft.com/office/powerpoint/2010/main" val="1739998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D7E4-0224-D2CF-CCF1-45346E664853}"/>
              </a:ext>
            </a:extLst>
          </p:cNvPr>
          <p:cNvSpPr>
            <a:spLocks noGrp="1"/>
          </p:cNvSpPr>
          <p:nvPr>
            <p:ph type="title"/>
          </p:nvPr>
        </p:nvSpPr>
        <p:spPr>
          <a:xfrm>
            <a:off x="1148798" y="1063416"/>
            <a:ext cx="8831816" cy="2365583"/>
          </a:xfrm>
        </p:spPr>
        <p:txBody>
          <a:bodyPr/>
          <a:lstStyle/>
          <a:p>
            <a:r>
              <a:rPr lang="en-US" b="1" dirty="0"/>
              <a:t>Understanding Product Performance &amp; Customer </a:t>
            </a:r>
            <a:r>
              <a:rPr lang="en-US" sz="3200" b="1" dirty="0" err="1"/>
              <a:t>Behaviour</a:t>
            </a:r>
            <a:br>
              <a:rPr lang="en-US" b="1" dirty="0"/>
            </a:br>
            <a:endParaRPr lang="en-KE" dirty="0"/>
          </a:p>
        </p:txBody>
      </p:sp>
      <p:sp>
        <p:nvSpPr>
          <p:cNvPr id="3" name="Text Placeholder 2">
            <a:extLst>
              <a:ext uri="{FF2B5EF4-FFF2-40B4-BE49-F238E27FC236}">
                <a16:creationId xmlns:a16="http://schemas.microsoft.com/office/drawing/2014/main" id="{4A4A3683-0053-4BB1-62C1-B9319DFFFE58}"/>
              </a:ext>
            </a:extLst>
          </p:cNvPr>
          <p:cNvSpPr>
            <a:spLocks noGrp="1"/>
          </p:cNvSpPr>
          <p:nvPr>
            <p:ph type="body" sz="half" idx="2"/>
          </p:nvPr>
        </p:nvSpPr>
        <p:spPr>
          <a:xfrm>
            <a:off x="924232" y="3303639"/>
            <a:ext cx="10068233" cy="3015888"/>
          </a:xfrm>
        </p:spPr>
        <p:txBody>
          <a:bodyPr/>
          <a:lstStyle/>
          <a:p>
            <a:pPr marL="285750" indent="-285750">
              <a:buFont typeface="Wingdings" panose="05000000000000000000" pitchFamily="2" charset="2"/>
              <a:buChar char="q"/>
            </a:pPr>
            <a:r>
              <a:rPr lang="en-US" sz="2400" dirty="0"/>
              <a:t>Our analysis focuses on understanding how different electronics products perform on Amazon, with the goal of improving inventory and pricing decisions. The electronics market is currently crowded, especially with accessories such as cables and adapters, and we want to determine what products truly drive customer interest and how pricing affects customer satisfaction.</a:t>
            </a:r>
          </a:p>
          <a:p>
            <a:endParaRPr lang="en-US" b="1" dirty="0"/>
          </a:p>
        </p:txBody>
      </p:sp>
    </p:spTree>
    <p:extLst>
      <p:ext uri="{BB962C8B-B14F-4D97-AF65-F5344CB8AC3E}">
        <p14:creationId xmlns:p14="http://schemas.microsoft.com/office/powerpoint/2010/main" val="4079745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764C-41A1-F6E8-DFCE-29918A10A6CC}"/>
              </a:ext>
            </a:extLst>
          </p:cNvPr>
          <p:cNvSpPr>
            <a:spLocks noGrp="1"/>
          </p:cNvSpPr>
          <p:nvPr>
            <p:ph type="title"/>
          </p:nvPr>
        </p:nvSpPr>
        <p:spPr>
          <a:xfrm>
            <a:off x="1154954" y="973667"/>
            <a:ext cx="8761413" cy="1494229"/>
          </a:xfrm>
        </p:spPr>
        <p:txBody>
          <a:bodyPr/>
          <a:lstStyle/>
          <a:p>
            <a:r>
              <a:rPr lang="en-US" sz="4000" dirty="0"/>
              <a:t>Dataset</a:t>
            </a:r>
            <a:r>
              <a:rPr lang="en-US" dirty="0"/>
              <a:t> </a:t>
            </a:r>
            <a:r>
              <a:rPr lang="en-US" sz="4000" dirty="0"/>
              <a:t>Overview</a:t>
            </a:r>
            <a:endParaRPr lang="en-KE" dirty="0"/>
          </a:p>
        </p:txBody>
      </p:sp>
      <p:sp>
        <p:nvSpPr>
          <p:cNvPr id="3" name="Content Placeholder 2">
            <a:extLst>
              <a:ext uri="{FF2B5EF4-FFF2-40B4-BE49-F238E27FC236}">
                <a16:creationId xmlns:a16="http://schemas.microsoft.com/office/drawing/2014/main" id="{45055250-E20A-4189-CAD2-62EA265A0664}"/>
              </a:ext>
            </a:extLst>
          </p:cNvPr>
          <p:cNvSpPr>
            <a:spLocks noGrp="1"/>
          </p:cNvSpPr>
          <p:nvPr>
            <p:ph idx="1"/>
          </p:nvPr>
        </p:nvSpPr>
        <p:spPr>
          <a:xfrm>
            <a:off x="1154954" y="2603500"/>
            <a:ext cx="9758852" cy="3416300"/>
          </a:xfrm>
        </p:spPr>
        <p:txBody>
          <a:bodyPr>
            <a:normAutofit fontScale="92500"/>
          </a:bodyPr>
          <a:lstStyle/>
          <a:p>
            <a:pPr>
              <a:buFont typeface="Wingdings" panose="05000000000000000000" pitchFamily="2" charset="2"/>
              <a:buChar char="q"/>
            </a:pPr>
            <a:r>
              <a:rPr lang="en-US" sz="2400" dirty="0"/>
              <a:t>Our dataset consisted of Amazon electronic products listings.</a:t>
            </a:r>
          </a:p>
          <a:p>
            <a:pPr>
              <a:buFont typeface="Wingdings" panose="05000000000000000000" pitchFamily="2" charset="2"/>
              <a:buChar char="q"/>
            </a:pPr>
            <a:r>
              <a:rPr lang="en-US" sz="2400" dirty="0"/>
              <a:t>The key fields we focused on were category, price, rating, reviews.</a:t>
            </a:r>
          </a:p>
          <a:p>
            <a:pPr>
              <a:buFont typeface="Wingdings" panose="05000000000000000000" pitchFamily="2" charset="2"/>
              <a:buChar char="q"/>
            </a:pPr>
            <a:r>
              <a:rPr lang="en-US" sz="2400" dirty="0"/>
              <a:t>It was cleaned for consistency &amp; numeric accuracy with missing values handled and numeric fields standardized.</a:t>
            </a:r>
          </a:p>
          <a:p>
            <a:pPr>
              <a:buFont typeface="Wingdings" panose="05000000000000000000" pitchFamily="2" charset="2"/>
              <a:buChar char="q"/>
            </a:pPr>
            <a:r>
              <a:rPr lang="en-US" sz="2400" dirty="0"/>
              <a:t>Using the Amazon Sales dataset, our team generated several visualizations to highlight the most essential patterns in product categories, customer engagement, pricing, and ratings that include:</a:t>
            </a:r>
          </a:p>
          <a:p>
            <a:pPr>
              <a:buFont typeface="Wingdings" panose="05000000000000000000" pitchFamily="2" charset="2"/>
              <a:buChar char="q"/>
            </a:pPr>
            <a:endParaRPr lang="en-KE" sz="2400" dirty="0"/>
          </a:p>
        </p:txBody>
      </p:sp>
    </p:spTree>
    <p:extLst>
      <p:ext uri="{BB962C8B-B14F-4D97-AF65-F5344CB8AC3E}">
        <p14:creationId xmlns:p14="http://schemas.microsoft.com/office/powerpoint/2010/main" val="3729943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8FD21-0BC1-77C7-91BC-ABD680C303DC}"/>
              </a:ext>
            </a:extLst>
          </p:cNvPr>
          <p:cNvSpPr>
            <a:spLocks noGrp="1"/>
          </p:cNvSpPr>
          <p:nvPr>
            <p:ph type="title"/>
          </p:nvPr>
        </p:nvSpPr>
        <p:spPr>
          <a:xfrm>
            <a:off x="1154955" y="1295400"/>
            <a:ext cx="2793158" cy="975852"/>
          </a:xfrm>
        </p:spPr>
        <p:txBody>
          <a:bodyPr/>
          <a:lstStyle/>
          <a:p>
            <a:r>
              <a:rPr lang="en-US" dirty="0"/>
              <a:t>1. Category Dominance</a:t>
            </a:r>
            <a:endParaRPr lang="en-KE" dirty="0"/>
          </a:p>
        </p:txBody>
      </p:sp>
      <p:pic>
        <p:nvPicPr>
          <p:cNvPr id="7" name="Content Placeholder 6" descr="A graph of a bar graph">
            <a:extLst>
              <a:ext uri="{FF2B5EF4-FFF2-40B4-BE49-F238E27FC236}">
                <a16:creationId xmlns:a16="http://schemas.microsoft.com/office/drawing/2014/main" id="{7EB880ED-0D8C-BD4C-CD23-2FAEFF84D0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47506" y="1445342"/>
            <a:ext cx="5656235" cy="4503174"/>
          </a:xfrm>
        </p:spPr>
      </p:pic>
      <p:sp>
        <p:nvSpPr>
          <p:cNvPr id="5" name="Text Placeholder 4">
            <a:extLst>
              <a:ext uri="{FF2B5EF4-FFF2-40B4-BE49-F238E27FC236}">
                <a16:creationId xmlns:a16="http://schemas.microsoft.com/office/drawing/2014/main" id="{C75F5180-BCDB-4112-ED46-6B8DB9C2F1CB}"/>
              </a:ext>
            </a:extLst>
          </p:cNvPr>
          <p:cNvSpPr>
            <a:spLocks noGrp="1"/>
          </p:cNvSpPr>
          <p:nvPr>
            <p:ph type="body" sz="half" idx="2"/>
          </p:nvPr>
        </p:nvSpPr>
        <p:spPr>
          <a:xfrm>
            <a:off x="1154954" y="2526890"/>
            <a:ext cx="2793158" cy="3497989"/>
          </a:xfrm>
        </p:spPr>
        <p:txBody>
          <a:bodyPr>
            <a:normAutofit/>
          </a:bodyPr>
          <a:lstStyle/>
          <a:p>
            <a:pPr marL="285750" indent="-285750">
              <a:buFont typeface="Arial" panose="020B0604020202020204" pitchFamily="34" charset="0"/>
              <a:buChar char="•"/>
            </a:pPr>
            <a:r>
              <a:rPr lang="en-US" sz="2000" dirty="0"/>
              <a:t>USB Cables appear most frequently in the dataset, dominating the market.</a:t>
            </a:r>
          </a:p>
          <a:p>
            <a:pPr marL="285750" indent="-285750">
              <a:buFont typeface="Arial" panose="020B0604020202020204" pitchFamily="34" charset="0"/>
              <a:buChar char="•"/>
            </a:pPr>
            <a:r>
              <a:rPr lang="en-US" sz="2000" dirty="0"/>
              <a:t>Their presence is nearly three times that of the next leading category.</a:t>
            </a:r>
          </a:p>
          <a:p>
            <a:endParaRPr lang="en-KE" sz="1600" dirty="0"/>
          </a:p>
        </p:txBody>
      </p:sp>
    </p:spTree>
    <p:extLst>
      <p:ext uri="{BB962C8B-B14F-4D97-AF65-F5344CB8AC3E}">
        <p14:creationId xmlns:p14="http://schemas.microsoft.com/office/powerpoint/2010/main" val="172230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DFF33-C252-9E16-A8CB-A77478331520}"/>
              </a:ext>
            </a:extLst>
          </p:cNvPr>
          <p:cNvSpPr>
            <a:spLocks noGrp="1"/>
          </p:cNvSpPr>
          <p:nvPr>
            <p:ph type="title"/>
          </p:nvPr>
        </p:nvSpPr>
        <p:spPr>
          <a:xfrm>
            <a:off x="1010096" y="1383890"/>
            <a:ext cx="2793158" cy="1074174"/>
          </a:xfrm>
        </p:spPr>
        <p:txBody>
          <a:bodyPr/>
          <a:lstStyle/>
          <a:p>
            <a:r>
              <a:rPr lang="en-US" b="1" dirty="0"/>
              <a:t>2. Customer Interaction</a:t>
            </a:r>
            <a:br>
              <a:rPr lang="en-US" b="1" dirty="0"/>
            </a:br>
            <a:endParaRPr lang="en-KE" dirty="0"/>
          </a:p>
        </p:txBody>
      </p:sp>
      <p:pic>
        <p:nvPicPr>
          <p:cNvPr id="6" name="Content Placeholder 5" descr="A graph of orange rectangular objects&#10;&#10;AI-generated content may be incorrect.">
            <a:extLst>
              <a:ext uri="{FF2B5EF4-FFF2-40B4-BE49-F238E27FC236}">
                <a16:creationId xmlns:a16="http://schemas.microsoft.com/office/drawing/2014/main" id="{56BBED76-743F-1FAF-B6B5-8DE4810524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1675" y="1219201"/>
            <a:ext cx="5623744" cy="4709652"/>
          </a:xfrm>
        </p:spPr>
      </p:pic>
      <p:sp>
        <p:nvSpPr>
          <p:cNvPr id="4" name="Text Placeholder 3">
            <a:extLst>
              <a:ext uri="{FF2B5EF4-FFF2-40B4-BE49-F238E27FC236}">
                <a16:creationId xmlns:a16="http://schemas.microsoft.com/office/drawing/2014/main" id="{CAFBD8EA-392E-2B73-E6B6-387CA63CFD85}"/>
              </a:ext>
            </a:extLst>
          </p:cNvPr>
          <p:cNvSpPr>
            <a:spLocks noGrp="1"/>
          </p:cNvSpPr>
          <p:nvPr>
            <p:ph type="body" sz="half" idx="2"/>
          </p:nvPr>
        </p:nvSpPr>
        <p:spPr>
          <a:xfrm>
            <a:off x="865239" y="2153264"/>
            <a:ext cx="3082873" cy="3871615"/>
          </a:xfrm>
        </p:spPr>
        <p:txBody>
          <a:bodyPr>
            <a:normAutofit/>
          </a:bodyPr>
          <a:lstStyle/>
          <a:p>
            <a:pPr marL="342900" indent="-342900">
              <a:buFont typeface="Arial" panose="020B0604020202020204" pitchFamily="34" charset="0"/>
              <a:buChar char="•"/>
            </a:pPr>
            <a:r>
              <a:rPr lang="en-US" sz="2000" dirty="0"/>
              <a:t>Products with the highest number of reviews are mostly low-cost accessories.</a:t>
            </a:r>
          </a:p>
          <a:p>
            <a:pPr marL="342900" indent="-342900">
              <a:buFont typeface="Arial" panose="020B0604020202020204" pitchFamily="34" charset="0"/>
              <a:buChar char="•"/>
            </a:pPr>
            <a:r>
              <a:rPr lang="en-US" sz="2000" dirty="0"/>
              <a:t>Items such as Micro USB and HDMI cables consistently attract high customer engagement.</a:t>
            </a:r>
          </a:p>
          <a:p>
            <a:endParaRPr lang="en-KE" sz="2000" dirty="0"/>
          </a:p>
        </p:txBody>
      </p:sp>
    </p:spTree>
    <p:extLst>
      <p:ext uri="{BB962C8B-B14F-4D97-AF65-F5344CB8AC3E}">
        <p14:creationId xmlns:p14="http://schemas.microsoft.com/office/powerpoint/2010/main" val="203898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CB20CE2-2D17-480A-7B8A-A2A09CF0DFC1}"/>
              </a:ext>
            </a:extLst>
          </p:cNvPr>
          <p:cNvSpPr>
            <a:spLocks noGrp="1"/>
          </p:cNvSpPr>
          <p:nvPr>
            <p:ph type="title"/>
          </p:nvPr>
        </p:nvSpPr>
        <p:spPr>
          <a:xfrm>
            <a:off x="1154954" y="830261"/>
            <a:ext cx="8825659" cy="1971933"/>
          </a:xfrm>
        </p:spPr>
        <p:txBody>
          <a:bodyPr/>
          <a:lstStyle/>
          <a:p>
            <a:r>
              <a:rPr lang="en-US" b="1" dirty="0"/>
              <a:t>3. Pricing and Customer Satisfaction</a:t>
            </a:r>
            <a:br>
              <a:rPr lang="en-US" b="1" dirty="0"/>
            </a:br>
            <a:endParaRPr lang="en-KE" dirty="0"/>
          </a:p>
        </p:txBody>
      </p:sp>
      <p:sp>
        <p:nvSpPr>
          <p:cNvPr id="16" name="Text Placeholder 15">
            <a:extLst>
              <a:ext uri="{FF2B5EF4-FFF2-40B4-BE49-F238E27FC236}">
                <a16:creationId xmlns:a16="http://schemas.microsoft.com/office/drawing/2014/main" id="{2925CD3A-40B6-43BF-C225-677438E10FCC}"/>
              </a:ext>
            </a:extLst>
          </p:cNvPr>
          <p:cNvSpPr>
            <a:spLocks noGrp="1"/>
          </p:cNvSpPr>
          <p:nvPr>
            <p:ph type="body" sz="half" idx="18"/>
          </p:nvPr>
        </p:nvSpPr>
        <p:spPr>
          <a:xfrm>
            <a:off x="525690" y="2603501"/>
            <a:ext cx="2227343" cy="3424238"/>
          </a:xfrm>
        </p:spPr>
        <p:txBody>
          <a:bodyPr>
            <a:normAutofit fontScale="92500"/>
          </a:bodyPr>
          <a:lstStyle/>
          <a:p>
            <a:pPr marL="285750" indent="-285750">
              <a:buFont typeface="Arial" panose="020B0604020202020204" pitchFamily="34" charset="0"/>
              <a:buChar char="•"/>
            </a:pPr>
            <a:r>
              <a:rPr lang="en-US" dirty="0"/>
              <a:t>There is no strong relationship between higher prices and higher ratings.</a:t>
            </a:r>
          </a:p>
          <a:p>
            <a:pPr marL="285750" indent="-285750">
              <a:buFont typeface="Arial" panose="020B0604020202020204" pitchFamily="34" charset="0"/>
              <a:buChar char="•"/>
            </a:pPr>
            <a:r>
              <a:rPr lang="en-US" dirty="0"/>
              <a:t>Many expensive items (above 50k) average around 4.0 stars, while cheaper accessories often reach above 4.5 stars.</a:t>
            </a:r>
          </a:p>
          <a:p>
            <a:pPr marL="285750" indent="-285750">
              <a:buFont typeface="Arial" panose="020B0604020202020204" pitchFamily="34" charset="0"/>
              <a:buChar char="•"/>
            </a:pPr>
            <a:r>
              <a:rPr lang="en-US" dirty="0"/>
              <a:t>Overall effect is positive, with most products rated between 4.0 and 4.5.</a:t>
            </a:r>
          </a:p>
          <a:p>
            <a:endParaRPr lang="en-KE" dirty="0"/>
          </a:p>
        </p:txBody>
      </p:sp>
      <p:pic>
        <p:nvPicPr>
          <p:cNvPr id="22" name="Picture Placeholder 21" descr="A graph with blue dots&#10;&#10;AI-generated content may be incorrect.">
            <a:extLst>
              <a:ext uri="{FF2B5EF4-FFF2-40B4-BE49-F238E27FC236}">
                <a16:creationId xmlns:a16="http://schemas.microsoft.com/office/drawing/2014/main" id="{5ED9B99C-51CD-F0E2-0616-3151B11FB638}"/>
              </a:ext>
            </a:extLst>
          </p:cNvPr>
          <p:cNvPicPr>
            <a:picLocks noGrp="1" noChangeAspect="1"/>
          </p:cNvPicPr>
          <p:nvPr>
            <p:ph type="pic" idx="21"/>
          </p:nvPr>
        </p:nvPicPr>
        <p:blipFill>
          <a:blip r:embed="rId2">
            <a:extLst>
              <a:ext uri="{28A0092B-C50C-407E-A947-70E740481C1C}">
                <a14:useLocalDpi xmlns:a14="http://schemas.microsoft.com/office/drawing/2010/main" val="0"/>
              </a:ext>
            </a:extLst>
          </a:blip>
          <a:srcRect l="7655" r="8122"/>
          <a:stretch>
            <a:fillRect/>
          </a:stretch>
        </p:blipFill>
        <p:spPr>
          <a:xfrm>
            <a:off x="2890683" y="2603500"/>
            <a:ext cx="3814917" cy="3424238"/>
          </a:xfrm>
          <a:prstGeom prst="rect">
            <a:avLst/>
          </a:prstGeom>
        </p:spPr>
      </p:pic>
      <p:pic>
        <p:nvPicPr>
          <p:cNvPr id="24" name="Picture Placeholder 23" descr="A green bar graph with white background&#10;&#10;AI-generated content may be incorrect.">
            <a:extLst>
              <a:ext uri="{FF2B5EF4-FFF2-40B4-BE49-F238E27FC236}">
                <a16:creationId xmlns:a16="http://schemas.microsoft.com/office/drawing/2014/main" id="{F6485A23-FDF7-623B-FB84-BE56FF87535D}"/>
              </a:ext>
            </a:extLst>
          </p:cNvPr>
          <p:cNvPicPr>
            <a:picLocks noGrp="1" noChangeAspect="1"/>
          </p:cNvPicPr>
          <p:nvPr>
            <p:ph type="pic" idx="22"/>
          </p:nvPr>
        </p:nvPicPr>
        <p:blipFill>
          <a:blip r:embed="rId3">
            <a:extLst>
              <a:ext uri="{28A0092B-C50C-407E-A947-70E740481C1C}">
                <a14:useLocalDpi xmlns:a14="http://schemas.microsoft.com/office/drawing/2010/main" val="0"/>
              </a:ext>
            </a:extLst>
          </a:blip>
          <a:srcRect l="-1562" r="-4806"/>
          <a:stretch>
            <a:fillRect/>
          </a:stretch>
        </p:blipFill>
        <p:spPr>
          <a:xfrm>
            <a:off x="6980904" y="2603500"/>
            <a:ext cx="4685406" cy="3424238"/>
          </a:xfrm>
        </p:spPr>
      </p:pic>
    </p:spTree>
    <p:extLst>
      <p:ext uri="{BB962C8B-B14F-4D97-AF65-F5344CB8AC3E}">
        <p14:creationId xmlns:p14="http://schemas.microsoft.com/office/powerpoint/2010/main" val="1317493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72922-C18E-4866-E653-1EE82979A270}"/>
              </a:ext>
            </a:extLst>
          </p:cNvPr>
          <p:cNvSpPr>
            <a:spLocks noGrp="1"/>
          </p:cNvSpPr>
          <p:nvPr>
            <p:ph type="title"/>
          </p:nvPr>
        </p:nvSpPr>
        <p:spPr>
          <a:xfrm>
            <a:off x="1061885" y="1130709"/>
            <a:ext cx="2793158" cy="1258528"/>
          </a:xfrm>
        </p:spPr>
        <p:txBody>
          <a:bodyPr>
            <a:normAutofit/>
          </a:bodyPr>
          <a:lstStyle/>
          <a:p>
            <a:r>
              <a:rPr lang="en-US" b="1" dirty="0"/>
              <a:t>4. Correlation </a:t>
            </a:r>
            <a:br>
              <a:rPr lang="en-US" b="1" dirty="0"/>
            </a:br>
            <a:r>
              <a:rPr lang="en-US" sz="2200" b="1" dirty="0"/>
              <a:t>Insights</a:t>
            </a:r>
            <a:br>
              <a:rPr lang="en-US" b="1" dirty="0"/>
            </a:br>
            <a:endParaRPr lang="en-KE" dirty="0"/>
          </a:p>
        </p:txBody>
      </p:sp>
      <p:pic>
        <p:nvPicPr>
          <p:cNvPr id="6" name="Content Placeholder 5" descr="A screenshot of a graph&#10;&#10;AI-generated content may be incorrect.">
            <a:extLst>
              <a:ext uri="{FF2B5EF4-FFF2-40B4-BE49-F238E27FC236}">
                <a16:creationId xmlns:a16="http://schemas.microsoft.com/office/drawing/2014/main" id="{6B3FFA8A-D00D-B509-65A7-CBB84B071E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1674" y="1199535"/>
            <a:ext cx="5348441" cy="4610080"/>
          </a:xfrm>
        </p:spPr>
      </p:pic>
      <p:sp>
        <p:nvSpPr>
          <p:cNvPr id="4" name="Text Placeholder 3">
            <a:extLst>
              <a:ext uri="{FF2B5EF4-FFF2-40B4-BE49-F238E27FC236}">
                <a16:creationId xmlns:a16="http://schemas.microsoft.com/office/drawing/2014/main" id="{4330FDF2-E206-D133-3268-3F048C88F0F7}"/>
              </a:ext>
            </a:extLst>
          </p:cNvPr>
          <p:cNvSpPr>
            <a:spLocks noGrp="1"/>
          </p:cNvSpPr>
          <p:nvPr>
            <p:ph type="body" sz="half" idx="2"/>
          </p:nvPr>
        </p:nvSpPr>
        <p:spPr>
          <a:xfrm>
            <a:off x="1154954" y="2133600"/>
            <a:ext cx="2793158" cy="3891278"/>
          </a:xfrm>
        </p:spPr>
        <p:txBody>
          <a:bodyPr>
            <a:normAutofit/>
          </a:bodyPr>
          <a:lstStyle/>
          <a:p>
            <a:pPr marL="342900" indent="-342900">
              <a:buFont typeface="Arial" panose="020B0604020202020204" pitchFamily="34" charset="0"/>
              <a:buChar char="•"/>
            </a:pPr>
            <a:r>
              <a:rPr lang="en-US" sz="2000" dirty="0"/>
              <a:t>A small negative correlation (</a:t>
            </a:r>
            <a:r>
              <a:rPr lang="en-US" sz="2000" b="1" dirty="0"/>
              <a:t>-0.24</a:t>
            </a:r>
            <a:r>
              <a:rPr lang="en-US" sz="2000" dirty="0"/>
              <a:t>) exists </a:t>
            </a:r>
            <a:r>
              <a:rPr lang="en-US" sz="1800" dirty="0"/>
              <a:t>between</a:t>
            </a:r>
            <a:r>
              <a:rPr lang="en-US" sz="1600" dirty="0"/>
              <a:t> discounted</a:t>
            </a:r>
            <a:r>
              <a:rPr lang="en-US" sz="2000" dirty="0"/>
              <a:t> price and rating.</a:t>
            </a:r>
          </a:p>
          <a:p>
            <a:pPr marL="342900" indent="-342900">
              <a:buFont typeface="Arial" panose="020B0604020202020204" pitchFamily="34" charset="0"/>
              <a:buChar char="•"/>
            </a:pPr>
            <a:r>
              <a:rPr lang="en-US" sz="2000" dirty="0"/>
              <a:t>This suggests that as prices increase, customer ratings tend to decrease slightly.</a:t>
            </a:r>
          </a:p>
          <a:p>
            <a:endParaRPr lang="en-KE" sz="1200" dirty="0"/>
          </a:p>
        </p:txBody>
      </p:sp>
    </p:spTree>
    <p:extLst>
      <p:ext uri="{BB962C8B-B14F-4D97-AF65-F5344CB8AC3E}">
        <p14:creationId xmlns:p14="http://schemas.microsoft.com/office/powerpoint/2010/main" val="2711194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E645-7D4F-8888-60DF-A1F99EF17CBF}"/>
              </a:ext>
            </a:extLst>
          </p:cNvPr>
          <p:cNvSpPr>
            <a:spLocks noGrp="1"/>
          </p:cNvSpPr>
          <p:nvPr>
            <p:ph type="title"/>
          </p:nvPr>
        </p:nvSpPr>
        <p:spPr/>
        <p:txBody>
          <a:bodyPr/>
          <a:lstStyle/>
          <a:p>
            <a:pPr algn="r"/>
            <a:r>
              <a:rPr lang="en-US" dirty="0"/>
              <a:t>Insights gained from data interpretation</a:t>
            </a:r>
            <a:endParaRPr lang="en-KE" dirty="0"/>
          </a:p>
        </p:txBody>
      </p:sp>
      <p:sp>
        <p:nvSpPr>
          <p:cNvPr id="3" name="Content Placeholder 2">
            <a:extLst>
              <a:ext uri="{FF2B5EF4-FFF2-40B4-BE49-F238E27FC236}">
                <a16:creationId xmlns:a16="http://schemas.microsoft.com/office/drawing/2014/main" id="{969A2DEA-4CC0-F069-0CE5-F371B281D4C4}"/>
              </a:ext>
            </a:extLst>
          </p:cNvPr>
          <p:cNvSpPr>
            <a:spLocks noGrp="1"/>
          </p:cNvSpPr>
          <p:nvPr>
            <p:ph type="body" idx="1"/>
          </p:nvPr>
        </p:nvSpPr>
        <p:spPr/>
        <p:txBody>
          <a:bodyPr/>
          <a:lstStyle/>
          <a:p>
            <a:pPr marL="0" indent="0" algn="ctr">
              <a:buNone/>
            </a:pPr>
            <a:endParaRPr lang="en-US" b="1" dirty="0"/>
          </a:p>
          <a:p>
            <a:pPr marL="0" indent="0">
              <a:buNone/>
            </a:pPr>
            <a:endParaRPr lang="en-US" b="1" dirty="0"/>
          </a:p>
          <a:p>
            <a:endParaRPr lang="en-KE" dirty="0"/>
          </a:p>
        </p:txBody>
      </p:sp>
    </p:spTree>
    <p:extLst>
      <p:ext uri="{BB962C8B-B14F-4D97-AF65-F5344CB8AC3E}">
        <p14:creationId xmlns:p14="http://schemas.microsoft.com/office/powerpoint/2010/main" val="1582137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CE80-8E3D-F6E0-603F-7548F91FEA38}"/>
              </a:ext>
            </a:extLst>
          </p:cNvPr>
          <p:cNvSpPr>
            <a:spLocks noGrp="1"/>
          </p:cNvSpPr>
          <p:nvPr>
            <p:ph type="title"/>
          </p:nvPr>
        </p:nvSpPr>
        <p:spPr>
          <a:xfrm>
            <a:off x="1148798" y="1063416"/>
            <a:ext cx="8831816" cy="2365583"/>
          </a:xfrm>
        </p:spPr>
        <p:txBody>
          <a:bodyPr/>
          <a:lstStyle/>
          <a:p>
            <a:r>
              <a:rPr lang="en-US" b="1" dirty="0"/>
              <a:t>1. Accessories Drive Customer Activity</a:t>
            </a:r>
            <a:br>
              <a:rPr lang="en-US" b="1" dirty="0"/>
            </a:br>
            <a:endParaRPr lang="en-KE" dirty="0"/>
          </a:p>
        </p:txBody>
      </p:sp>
      <p:sp>
        <p:nvSpPr>
          <p:cNvPr id="3" name="Content Placeholder 2">
            <a:extLst>
              <a:ext uri="{FF2B5EF4-FFF2-40B4-BE49-F238E27FC236}">
                <a16:creationId xmlns:a16="http://schemas.microsoft.com/office/drawing/2014/main" id="{C52E7B11-3A56-1F7C-78DC-DE1606B803E6}"/>
              </a:ext>
            </a:extLst>
          </p:cNvPr>
          <p:cNvSpPr>
            <a:spLocks noGrp="1"/>
          </p:cNvSpPr>
          <p:nvPr>
            <p:ph type="body" sz="half" idx="2"/>
          </p:nvPr>
        </p:nvSpPr>
        <p:spPr/>
        <p:txBody>
          <a:bodyPr>
            <a:normAutofit/>
          </a:bodyPr>
          <a:lstStyle/>
          <a:p>
            <a:pPr marL="342900" indent="-342900">
              <a:buFont typeface="Wingdings" panose="05000000000000000000" pitchFamily="2" charset="2"/>
              <a:buChar char="q"/>
            </a:pPr>
            <a:r>
              <a:rPr lang="en-US" sz="2400" dirty="0"/>
              <a:t>Low-cost products, especially cables, play a major role in attracting customers.</a:t>
            </a:r>
          </a:p>
          <a:p>
            <a:pPr marL="342900" indent="-342900">
              <a:buFont typeface="Wingdings" panose="05000000000000000000" pitchFamily="2" charset="2"/>
              <a:buChar char="q"/>
            </a:pPr>
            <a:r>
              <a:rPr lang="en-US" sz="2400" dirty="0"/>
              <a:t>They may not generate high revenue per item, but they consistently bring traffic to the store due to their volume.</a:t>
            </a:r>
            <a:endParaRPr lang="en-KE" sz="2400" dirty="0"/>
          </a:p>
        </p:txBody>
      </p:sp>
    </p:spTree>
    <p:extLst>
      <p:ext uri="{BB962C8B-B14F-4D97-AF65-F5344CB8AC3E}">
        <p14:creationId xmlns:p14="http://schemas.microsoft.com/office/powerpoint/2010/main" val="2803594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BE5E-3C24-BA4E-1FAD-3DF4D9234CD6}"/>
              </a:ext>
            </a:extLst>
          </p:cNvPr>
          <p:cNvSpPr>
            <a:spLocks noGrp="1"/>
          </p:cNvSpPr>
          <p:nvPr>
            <p:ph type="title"/>
          </p:nvPr>
        </p:nvSpPr>
        <p:spPr>
          <a:xfrm>
            <a:off x="1148798" y="1063416"/>
            <a:ext cx="8831816" cy="2365583"/>
          </a:xfrm>
        </p:spPr>
        <p:txBody>
          <a:bodyPr/>
          <a:lstStyle/>
          <a:p>
            <a:r>
              <a:rPr lang="en-US" b="1" dirty="0"/>
              <a:t>2. Higher Prices Lead to Higher Expectations</a:t>
            </a:r>
            <a:br>
              <a:rPr lang="en-US" b="1" dirty="0"/>
            </a:br>
            <a:endParaRPr lang="en-KE" dirty="0"/>
          </a:p>
        </p:txBody>
      </p:sp>
      <p:sp>
        <p:nvSpPr>
          <p:cNvPr id="3" name="Text Placeholder 2">
            <a:extLst>
              <a:ext uri="{FF2B5EF4-FFF2-40B4-BE49-F238E27FC236}">
                <a16:creationId xmlns:a16="http://schemas.microsoft.com/office/drawing/2014/main" id="{C3593C66-CA84-A309-86B1-402A09FDCB10}"/>
              </a:ext>
            </a:extLst>
          </p:cNvPr>
          <p:cNvSpPr>
            <a:spLocks noGrp="1"/>
          </p:cNvSpPr>
          <p:nvPr>
            <p:ph type="body" sz="half" idx="2"/>
          </p:nvPr>
        </p:nvSpPr>
        <p:spPr/>
        <p:txBody>
          <a:bodyPr>
            <a:normAutofit/>
          </a:bodyPr>
          <a:lstStyle/>
          <a:p>
            <a:pPr marL="342900" indent="-342900">
              <a:buFont typeface="Wingdings" panose="05000000000000000000" pitchFamily="2" charset="2"/>
              <a:buChar char="q"/>
            </a:pPr>
            <a:r>
              <a:rPr lang="en-US" sz="2400" dirty="0"/>
              <a:t>Premium products receive more scrutinization.</a:t>
            </a:r>
          </a:p>
          <a:p>
            <a:pPr marL="342900" indent="-342900">
              <a:buFont typeface="Wingdings" panose="05000000000000000000" pitchFamily="2" charset="2"/>
              <a:buChar char="q"/>
            </a:pPr>
            <a:r>
              <a:rPr lang="en-US" sz="2400" dirty="0"/>
              <a:t>When an expensive item underperforms, lower ratings reflect higher customer expectations, which aligns with the negative price-rating correlation.</a:t>
            </a:r>
            <a:endParaRPr lang="en-KE" sz="2400" dirty="0"/>
          </a:p>
        </p:txBody>
      </p:sp>
    </p:spTree>
    <p:extLst>
      <p:ext uri="{BB962C8B-B14F-4D97-AF65-F5344CB8AC3E}">
        <p14:creationId xmlns:p14="http://schemas.microsoft.com/office/powerpoint/2010/main" val="3109639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9B30-1C1C-E573-0865-290A6A5F61BE}"/>
              </a:ext>
            </a:extLst>
          </p:cNvPr>
          <p:cNvSpPr>
            <a:spLocks noGrp="1"/>
          </p:cNvSpPr>
          <p:nvPr>
            <p:ph type="title"/>
          </p:nvPr>
        </p:nvSpPr>
        <p:spPr>
          <a:xfrm>
            <a:off x="1148798" y="658762"/>
            <a:ext cx="8831816" cy="3618270"/>
          </a:xfrm>
        </p:spPr>
        <p:txBody>
          <a:bodyPr/>
          <a:lstStyle/>
          <a:p>
            <a:r>
              <a:rPr lang="en-US" b="1" dirty="0"/>
              <a:t>3. Strong Overall Customer Satisfaction</a:t>
            </a:r>
            <a:br>
              <a:rPr lang="en-US" b="1" dirty="0"/>
            </a:br>
            <a:br>
              <a:rPr lang="en-US" dirty="0"/>
            </a:br>
            <a:endParaRPr lang="en-KE" dirty="0"/>
          </a:p>
        </p:txBody>
      </p:sp>
      <p:sp>
        <p:nvSpPr>
          <p:cNvPr id="3" name="Text Placeholder 2">
            <a:extLst>
              <a:ext uri="{FF2B5EF4-FFF2-40B4-BE49-F238E27FC236}">
                <a16:creationId xmlns:a16="http://schemas.microsoft.com/office/drawing/2014/main" id="{F34CBD93-4705-F183-06BB-C84094408D8D}"/>
              </a:ext>
            </a:extLst>
          </p:cNvPr>
          <p:cNvSpPr>
            <a:spLocks noGrp="1"/>
          </p:cNvSpPr>
          <p:nvPr>
            <p:ph type="body" sz="half" idx="2"/>
          </p:nvPr>
        </p:nvSpPr>
        <p:spPr/>
        <p:txBody>
          <a:bodyPr>
            <a:normAutofit/>
          </a:bodyPr>
          <a:lstStyle/>
          <a:p>
            <a:pPr marL="342900" indent="-342900">
              <a:buFont typeface="Wingdings" panose="05000000000000000000" pitchFamily="2" charset="2"/>
              <a:buChar char="q"/>
            </a:pPr>
            <a:r>
              <a:rPr lang="en-US" sz="2400" dirty="0"/>
              <a:t>Most products perform well in terms of ratings. </a:t>
            </a:r>
          </a:p>
          <a:p>
            <a:pPr marL="342900" indent="-342900">
              <a:buFont typeface="Wingdings" panose="05000000000000000000" pitchFamily="2" charset="2"/>
              <a:buChar char="q"/>
            </a:pPr>
            <a:r>
              <a:rPr lang="en-US" sz="2400" dirty="0"/>
              <a:t>Any product below 3.5 stars stands out and should be investigated by inventory or quality teams.</a:t>
            </a:r>
            <a:endParaRPr lang="en-KE" sz="2400" dirty="0"/>
          </a:p>
        </p:txBody>
      </p:sp>
    </p:spTree>
    <p:extLst>
      <p:ext uri="{BB962C8B-B14F-4D97-AF65-F5344CB8AC3E}">
        <p14:creationId xmlns:p14="http://schemas.microsoft.com/office/powerpoint/2010/main" val="1442546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B4D21-D579-FB39-0521-D139AE31EF2B}"/>
              </a:ext>
            </a:extLst>
          </p:cNvPr>
          <p:cNvSpPr>
            <a:spLocks noGrp="1"/>
          </p:cNvSpPr>
          <p:nvPr>
            <p:ph type="title"/>
          </p:nvPr>
        </p:nvSpPr>
        <p:spPr/>
        <p:txBody>
          <a:bodyPr/>
          <a:lstStyle/>
          <a:p>
            <a:pPr algn="r"/>
            <a:r>
              <a:rPr lang="en-US" dirty="0"/>
              <a:t>Recommendations</a:t>
            </a:r>
            <a:endParaRPr lang="en-KE" dirty="0"/>
          </a:p>
        </p:txBody>
      </p:sp>
    </p:spTree>
    <p:extLst>
      <p:ext uri="{BB962C8B-B14F-4D97-AF65-F5344CB8AC3E}">
        <p14:creationId xmlns:p14="http://schemas.microsoft.com/office/powerpoint/2010/main" val="1915692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D8DA0-D2BD-A222-353D-BB67100EFFB8}"/>
              </a:ext>
            </a:extLst>
          </p:cNvPr>
          <p:cNvSpPr>
            <a:spLocks noGrp="1"/>
          </p:cNvSpPr>
          <p:nvPr>
            <p:ph type="title"/>
          </p:nvPr>
        </p:nvSpPr>
        <p:spPr>
          <a:xfrm>
            <a:off x="1148798" y="1063416"/>
            <a:ext cx="8831816" cy="2476500"/>
          </a:xfrm>
        </p:spPr>
        <p:txBody>
          <a:bodyPr/>
          <a:lstStyle/>
          <a:p>
            <a:r>
              <a:rPr lang="en-US" b="1" dirty="0"/>
              <a:t>1. Increase the quantity of high-demand accessories</a:t>
            </a:r>
            <a:br>
              <a:rPr lang="en-US" b="1" dirty="0"/>
            </a:br>
            <a:endParaRPr lang="en-KE" dirty="0"/>
          </a:p>
        </p:txBody>
      </p:sp>
      <p:sp>
        <p:nvSpPr>
          <p:cNvPr id="3" name="Text Placeholder 2">
            <a:extLst>
              <a:ext uri="{FF2B5EF4-FFF2-40B4-BE49-F238E27FC236}">
                <a16:creationId xmlns:a16="http://schemas.microsoft.com/office/drawing/2014/main" id="{2D6E677A-A7E7-6790-67D5-1A806B80AE82}"/>
              </a:ext>
            </a:extLst>
          </p:cNvPr>
          <p:cNvSpPr>
            <a:spLocks noGrp="1"/>
          </p:cNvSpPr>
          <p:nvPr>
            <p:ph type="body" sz="half" idx="2"/>
          </p:nvPr>
        </p:nvSpPr>
        <p:spPr/>
        <p:txBody>
          <a:bodyPr>
            <a:normAutofit/>
          </a:bodyPr>
          <a:lstStyle/>
          <a:p>
            <a:pPr marL="342900" indent="-342900">
              <a:buFont typeface="Wingdings" panose="05000000000000000000" pitchFamily="2" charset="2"/>
              <a:buChar char="q"/>
            </a:pPr>
            <a:r>
              <a:rPr lang="en-US" sz="2400" dirty="0"/>
              <a:t>Maintain strong stock levels for USB and HDMI cables. </a:t>
            </a:r>
          </a:p>
          <a:p>
            <a:pPr marL="342900" indent="-342900">
              <a:buFont typeface="Wingdings" panose="05000000000000000000" pitchFamily="2" charset="2"/>
              <a:buChar char="q"/>
            </a:pPr>
            <a:r>
              <a:rPr lang="en-US" sz="2400" dirty="0"/>
              <a:t>These items have high turnover and contribute significantly to customer engagement.</a:t>
            </a:r>
            <a:endParaRPr lang="en-KE" sz="2400" dirty="0"/>
          </a:p>
        </p:txBody>
      </p:sp>
    </p:spTree>
    <p:extLst>
      <p:ext uri="{BB962C8B-B14F-4D97-AF65-F5344CB8AC3E}">
        <p14:creationId xmlns:p14="http://schemas.microsoft.com/office/powerpoint/2010/main" val="274587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1F3FC-5137-1092-0557-F70DDBF0539E}"/>
              </a:ext>
            </a:extLst>
          </p:cNvPr>
          <p:cNvSpPr>
            <a:spLocks noGrp="1"/>
          </p:cNvSpPr>
          <p:nvPr>
            <p:ph type="title"/>
          </p:nvPr>
        </p:nvSpPr>
        <p:spPr>
          <a:xfrm>
            <a:off x="1148798" y="1063416"/>
            <a:ext cx="8831816" cy="2365584"/>
          </a:xfrm>
        </p:spPr>
        <p:txBody>
          <a:bodyPr/>
          <a:lstStyle/>
          <a:p>
            <a:r>
              <a:rPr lang="en-US" b="1" dirty="0"/>
              <a:t>2. Increase quality checks for premium products</a:t>
            </a:r>
            <a:br>
              <a:rPr lang="en-US" b="1" dirty="0"/>
            </a:br>
            <a:endParaRPr lang="en-KE" dirty="0"/>
          </a:p>
        </p:txBody>
      </p:sp>
      <p:sp>
        <p:nvSpPr>
          <p:cNvPr id="3" name="Text Placeholder 2">
            <a:extLst>
              <a:ext uri="{FF2B5EF4-FFF2-40B4-BE49-F238E27FC236}">
                <a16:creationId xmlns:a16="http://schemas.microsoft.com/office/drawing/2014/main" id="{8848EA7B-3665-D9E2-2CB5-556889A63C82}"/>
              </a:ext>
            </a:extLst>
          </p:cNvPr>
          <p:cNvSpPr>
            <a:spLocks noGrp="1"/>
          </p:cNvSpPr>
          <p:nvPr>
            <p:ph type="body" sz="half" idx="2"/>
          </p:nvPr>
        </p:nvSpPr>
        <p:spPr/>
        <p:txBody>
          <a:bodyPr>
            <a:normAutofit/>
          </a:bodyPr>
          <a:lstStyle/>
          <a:p>
            <a:pPr marL="342900" indent="-342900">
              <a:buFont typeface="Wingdings" panose="05000000000000000000" pitchFamily="2" charset="2"/>
              <a:buChar char="q"/>
            </a:pPr>
            <a:r>
              <a:rPr lang="en-US" sz="2400" dirty="0"/>
              <a:t>For products priced above ₹20,000, introduce more thorough quality control. </a:t>
            </a:r>
          </a:p>
          <a:p>
            <a:pPr marL="342900" indent="-342900">
              <a:buFont typeface="Wingdings" panose="05000000000000000000" pitchFamily="2" charset="2"/>
              <a:buChar char="q"/>
            </a:pPr>
            <a:r>
              <a:rPr lang="en-US" sz="2400" dirty="0"/>
              <a:t>These customers expect reliability, and negative reviews tend to be more severe on revenue.</a:t>
            </a:r>
            <a:endParaRPr lang="en-KE" sz="2400" dirty="0"/>
          </a:p>
        </p:txBody>
      </p:sp>
    </p:spTree>
    <p:extLst>
      <p:ext uri="{BB962C8B-B14F-4D97-AF65-F5344CB8AC3E}">
        <p14:creationId xmlns:p14="http://schemas.microsoft.com/office/powerpoint/2010/main" val="355019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59BED-BF19-7143-0A21-509B1EB09491}"/>
              </a:ext>
            </a:extLst>
          </p:cNvPr>
          <p:cNvSpPr>
            <a:spLocks noGrp="1"/>
          </p:cNvSpPr>
          <p:nvPr>
            <p:ph type="title"/>
          </p:nvPr>
        </p:nvSpPr>
        <p:spPr>
          <a:xfrm>
            <a:off x="1148798" y="1063416"/>
            <a:ext cx="8831816" cy="2365583"/>
          </a:xfrm>
        </p:spPr>
        <p:txBody>
          <a:bodyPr/>
          <a:lstStyle/>
          <a:p>
            <a:r>
              <a:rPr lang="en-US" b="1" dirty="0"/>
              <a:t>3. Apply strategic pricing</a:t>
            </a:r>
            <a:br>
              <a:rPr lang="en-US" b="1" dirty="0"/>
            </a:br>
            <a:endParaRPr lang="en-KE" dirty="0"/>
          </a:p>
        </p:txBody>
      </p:sp>
      <p:sp>
        <p:nvSpPr>
          <p:cNvPr id="3" name="Text Placeholder 2">
            <a:extLst>
              <a:ext uri="{FF2B5EF4-FFF2-40B4-BE49-F238E27FC236}">
                <a16:creationId xmlns:a16="http://schemas.microsoft.com/office/drawing/2014/main" id="{3AB71A97-6E4D-AA36-5DAD-5E2D93867917}"/>
              </a:ext>
            </a:extLst>
          </p:cNvPr>
          <p:cNvSpPr>
            <a:spLocks noGrp="1"/>
          </p:cNvSpPr>
          <p:nvPr>
            <p:ph type="body" sz="half" idx="2"/>
          </p:nvPr>
        </p:nvSpPr>
        <p:spPr>
          <a:xfrm>
            <a:off x="1154954" y="3313471"/>
            <a:ext cx="8825659" cy="2900515"/>
          </a:xfrm>
        </p:spPr>
        <p:txBody>
          <a:bodyPr>
            <a:normAutofit/>
          </a:bodyPr>
          <a:lstStyle/>
          <a:p>
            <a:pPr marL="285750" indent="-285750">
              <a:buFont typeface="Wingdings" panose="05000000000000000000" pitchFamily="2" charset="2"/>
              <a:buChar char="q"/>
            </a:pPr>
            <a:r>
              <a:rPr lang="en-US" sz="2800" dirty="0"/>
              <a:t>Since higher prices are linked to slightly lower ratings, avoid aggressive price increases for mid-range electronics.</a:t>
            </a:r>
          </a:p>
          <a:p>
            <a:pPr marL="285750" indent="-285750">
              <a:buFont typeface="Wingdings" panose="05000000000000000000" pitchFamily="2" charset="2"/>
              <a:buChar char="q"/>
            </a:pPr>
            <a:r>
              <a:rPr lang="en-US" sz="2800" dirty="0"/>
              <a:t>Competitive pricing or moderate discounts can help preserve customer satisfaction.</a:t>
            </a:r>
          </a:p>
          <a:p>
            <a:pPr marL="285750" indent="-285750">
              <a:buFont typeface="Wingdings" panose="05000000000000000000" pitchFamily="2" charset="2"/>
              <a:buChar char="q"/>
            </a:pPr>
            <a:endParaRPr lang="en-KE" sz="2800" dirty="0"/>
          </a:p>
        </p:txBody>
      </p:sp>
    </p:spTree>
    <p:extLst>
      <p:ext uri="{BB962C8B-B14F-4D97-AF65-F5344CB8AC3E}">
        <p14:creationId xmlns:p14="http://schemas.microsoft.com/office/powerpoint/2010/main" val="1448880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145</TotalTime>
  <Words>521</Words>
  <Application>Microsoft Office PowerPoint</Application>
  <PresentationFormat>Widescreen</PresentationFormat>
  <Paragraphs>44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Century Gothic</vt:lpstr>
      <vt:lpstr>Wingdings</vt:lpstr>
      <vt:lpstr>Wingdings 3</vt:lpstr>
      <vt:lpstr>Ion Boardroom</vt:lpstr>
      <vt:lpstr>Amazon Electronics Sales Analysis</vt:lpstr>
      <vt:lpstr>Business Problem Definition</vt:lpstr>
      <vt:lpstr>Understanding Product Performance &amp; Customer Behaviour </vt:lpstr>
      <vt:lpstr>Dataset Overview</vt:lpstr>
      <vt:lpstr>1. Category Dominance</vt:lpstr>
      <vt:lpstr>2. Customer Interaction </vt:lpstr>
      <vt:lpstr>3. Pricing and Customer Satisfaction </vt:lpstr>
      <vt:lpstr>4. Correlation  Insights </vt:lpstr>
      <vt:lpstr>Insights gained from data interpretation</vt:lpstr>
      <vt:lpstr>1. Accessories Drive Customer Activity </vt:lpstr>
      <vt:lpstr>2. Higher Prices Lead to Higher Expectations </vt:lpstr>
      <vt:lpstr>3. Strong Overall Customer Satisfaction  </vt:lpstr>
      <vt:lpstr>Recommendations</vt:lpstr>
      <vt:lpstr>1. Increase the quantity of high-demand accessories </vt:lpstr>
      <vt:lpstr>2. Increase quality checks for premium products </vt:lpstr>
      <vt:lpstr>3. Apply strategic pricing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Kamau</dc:creator>
  <cp:lastModifiedBy>Victor Kamau</cp:lastModifiedBy>
  <cp:revision>2</cp:revision>
  <dcterms:created xsi:type="dcterms:W3CDTF">2025-11-23T00:43:36Z</dcterms:created>
  <dcterms:modified xsi:type="dcterms:W3CDTF">2025-11-23T03:08:44Z</dcterms:modified>
</cp:coreProperties>
</file>